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A6AC9-BBEC-4FFC-B3CC-1EBDD3BF154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93AD1-E7A6-491A-862C-9C14C81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7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93AD1-E7A6-491A-862C-9C14C81603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0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E79"/>
                </a:solidFill>
                <a:latin typeface="Segoe UI"/>
              </a:rPr>
              <a:t>Pillar 1: MTTR &amp; SQL Farm Modernization  —  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95959"/>
                </a:solidFill>
                <a:latin typeface="Segoe UI"/>
              </a:rPr>
              <a:t>120 database-related incidents, January to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32004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0644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6364224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452F"/>
                </a:solidFill>
                <a:latin typeface="Segoe UI"/>
              </a:rPr>
              <a:t>Manulife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41908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Segoe UI"/>
              </a:rPr>
              <a:t>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8251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2697480" cy="868680"/>
          </a:xfrm>
          <a:prstGeom prst="roundRect">
            <a:avLst>
              <a:gd name="adj" fmla="val 9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50292" cy="8686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444752"/>
            <a:ext cx="233172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Segoe UI"/>
              </a:rPr>
              <a:t>120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Segoe UI"/>
              </a:rPr>
              <a:t>Database-related 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4816" y="1325880"/>
            <a:ext cx="2697480" cy="868680"/>
          </a:xfrm>
          <a:prstGeom prst="roundRect">
            <a:avLst>
              <a:gd name="adj" fmla="val 9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4816" y="1325880"/>
            <a:ext cx="50292" cy="8686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5984" y="1444752"/>
            <a:ext cx="233172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Segoe UI"/>
              </a:rPr>
              <a:t>0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Segoe UI"/>
              </a:rPr>
              <a:t>P1 incidents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6713" y="1325880"/>
            <a:ext cx="2697480" cy="868680"/>
          </a:xfrm>
          <a:prstGeom prst="roundRect">
            <a:avLst>
              <a:gd name="adj" fmla="val 9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6713" y="1325880"/>
            <a:ext cx="50292" cy="8686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7881" y="1444752"/>
            <a:ext cx="2331720" cy="571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600" b="1" i="0" dirty="0">
                <a:solidFill>
                  <a:srgbClr val="1F4E79"/>
                </a:solidFill>
                <a:latin typeface="Segoe UI"/>
              </a:rPr>
              <a:t>0.22</a:t>
            </a:r>
            <a:r>
              <a:rPr sz="2600" b="1" i="0" dirty="0">
                <a:solidFill>
                  <a:srgbClr val="1F4E79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1F4E79"/>
                </a:solidFill>
                <a:latin typeface="Segoe UI"/>
              </a:rPr>
              <a:t>hr</a:t>
            </a:r>
            <a:endParaRPr sz="2600" b="1" i="0" dirty="0">
              <a:solidFill>
                <a:srgbClr val="1F4E79"/>
              </a:solidFill>
              <a:latin typeface="Segoe UI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US" sz="950" b="0" i="0" dirty="0">
                <a:solidFill>
                  <a:srgbClr val="595959"/>
                </a:solidFill>
                <a:latin typeface="Segoe UI"/>
              </a:rPr>
              <a:t>Shortest</a:t>
            </a:r>
            <a:r>
              <a:rPr sz="950" b="0" i="0" dirty="0">
                <a:solidFill>
                  <a:srgbClr val="595959"/>
                </a:solidFill>
                <a:latin typeface="Segoe UI"/>
              </a:rPr>
              <a:t> recovery — and it was a P</a:t>
            </a:r>
            <a:r>
              <a:rPr lang="en-US" sz="950" b="0" i="0" dirty="0">
                <a:solidFill>
                  <a:srgbClr val="595959"/>
                </a:solidFill>
                <a:latin typeface="Segoe UI"/>
              </a:rPr>
              <a:t>2</a:t>
            </a:r>
            <a:endParaRPr sz="950" b="0" i="0" dirty="0">
              <a:solidFill>
                <a:srgbClr val="595959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98610" y="1325880"/>
            <a:ext cx="2697480" cy="868680"/>
          </a:xfrm>
          <a:prstGeom prst="roundRect">
            <a:avLst>
              <a:gd name="adj" fmla="val 9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8998610" y="1325880"/>
            <a:ext cx="50292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2395728"/>
            <a:ext cx="5715000" cy="3108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0644" y="2505456"/>
            <a:ext cx="55092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Segoe UI"/>
              </a:rPr>
              <a:t>Recovery time by priority — observed, not estimated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133517"/>
              </p:ext>
            </p:extLst>
          </p:nvPr>
        </p:nvGraphicFramePr>
        <p:xfrm>
          <a:off x="502920" y="2706624"/>
          <a:ext cx="5715000" cy="1632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marL="82296" marR="54864" marT="27432" marB="27432" anchor="ctr"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Incidents</a:t>
                      </a:r>
                    </a:p>
                  </a:txBody>
                  <a:tcPr marL="82296" marR="54864" marT="27432" marB="27432" anchor="ctr"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Shortest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 MTTR</a:t>
                      </a:r>
                      <a:endParaRPr sz="10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82296" marR="54864" marT="27432" marB="27432" anchor="ctr"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Longest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 MTTR</a:t>
                      </a:r>
                      <a:endParaRPr sz="10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82296" marR="54864" marT="27432" marB="27432" anchor="ctr"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0.22 hr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Segoe UI"/>
                        </a:rPr>
                        <a:t>7.58 hr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P3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0.23 hr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Segoe UI"/>
                        </a:rPr>
                        <a:t>9.25 hr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P4 / Other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94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62626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82296" marR="54864" marT="27432" marB="27432" anchor="ctr">
                    <a:solidFill>
                      <a:srgbClr val="E6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62626"/>
                          </a:solidFill>
                          <a:latin typeface="Segoe UI"/>
                        </a:rPr>
                        <a:t>120</a:t>
                      </a:r>
                    </a:p>
                  </a:txBody>
                  <a:tcPr marL="82296" marR="54864" marT="27432" marB="27432" anchor="ctr">
                    <a:solidFill>
                      <a:srgbClr val="E6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82296" marR="54864" marT="27432" marB="27432" anchor="ctr">
                    <a:solidFill>
                      <a:srgbClr val="E6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82296" marR="54864" marT="27432" marB="27432" anchor="ctr">
                    <a:solidFill>
                      <a:srgbClr val="E6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446520" y="2395728"/>
            <a:ext cx="5239512" cy="3108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2450592"/>
            <a:ext cx="492861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Segoe UI"/>
              </a:rPr>
              <a:t>What the numbers tell 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779776"/>
            <a:ext cx="5239512" cy="79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46520" y="2779776"/>
            <a:ext cx="45720" cy="79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2852928"/>
            <a:ext cx="4910328" cy="479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62626"/>
                </a:solidFill>
                <a:latin typeface="Segoe UI"/>
              </a:rPr>
              <a:t>Priority does not tell you how long you will be down.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dirty="0">
                <a:solidFill>
                  <a:srgbClr val="595959"/>
                </a:solidFill>
                <a:latin typeface="Segoe UI"/>
              </a:rPr>
              <a:t>Our longest recorded recovery, 9.25 </a:t>
            </a:r>
            <a:r>
              <a:rPr sz="950" b="0" dirty="0" err="1">
                <a:solidFill>
                  <a:srgbClr val="595959"/>
                </a:solidFill>
                <a:latin typeface="Segoe UI"/>
              </a:rPr>
              <a:t>hrs</a:t>
            </a:r>
            <a:r>
              <a:rPr sz="950" b="0" dirty="0">
                <a:solidFill>
                  <a:srgbClr val="595959"/>
                </a:solidFill>
                <a:latin typeface="Segoe UI"/>
              </a:rPr>
              <a:t>, was a P3 — 22% longer than the worst P2 at 7.58 hrs. A priority records the symptom raised at the time. It does not tell you how long the business is down.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633776"/>
            <a:ext cx="5239512" cy="8092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46520" y="3633776"/>
            <a:ext cx="45720" cy="809249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3706928"/>
            <a:ext cx="49103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62626"/>
                </a:solidFill>
                <a:latin typeface="Segoe UI"/>
              </a:rPr>
              <a:t>There is no recovery time we can guarantee today.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dirty="0">
                <a:solidFill>
                  <a:srgbClr val="595959"/>
                </a:solidFill>
                <a:latin typeface="Segoe UI"/>
              </a:rPr>
              <a:t>P2 recovery ran from 0.22 to 7.58 </a:t>
            </a:r>
            <a:r>
              <a:rPr sz="950" b="0" dirty="0" err="1">
                <a:solidFill>
                  <a:srgbClr val="595959"/>
                </a:solidFill>
                <a:latin typeface="Segoe UI"/>
              </a:rPr>
              <a:t>hrs</a:t>
            </a:r>
            <a:r>
              <a:rPr sz="950" b="0" dirty="0">
                <a:solidFill>
                  <a:srgbClr val="595959"/>
                </a:solidFill>
                <a:latin typeface="Segoe UI"/>
              </a:rPr>
              <a:t>, P3 from 0.23 to 9.25 hrs. How long we are down is driven by what failed and what sat behind it, not by severity.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79602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2E6B4F"/>
                </a:solidFill>
                <a:latin typeface="Segoe UI"/>
              </a:rPr>
              <a:t>DOMINANT FAILURE MODES  (one primary category per incident)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052056"/>
            <a:ext cx="2176272" cy="603504"/>
          </a:xfrm>
          <a:prstGeom prst="roundRect">
            <a:avLst>
              <a:gd name="adj" fmla="val 12000"/>
            </a:avLst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" y="5116064"/>
            <a:ext cx="192023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452F"/>
                </a:solidFill>
                <a:latin typeface="Segoe UI"/>
              </a:rPr>
              <a:t>28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Segoe UI"/>
              </a:rPr>
              <a:t>Performance /
latency / timeout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79776" y="5052056"/>
            <a:ext cx="2176272" cy="603504"/>
          </a:xfrm>
          <a:prstGeom prst="roundRect">
            <a:avLst>
              <a:gd name="adj" fmla="val 12000"/>
            </a:avLst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07792" y="5116064"/>
            <a:ext cx="192023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452F"/>
                </a:solidFill>
                <a:latin typeface="Segoe UI"/>
              </a:rPr>
              <a:t>22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Segoe UI"/>
              </a:rPr>
              <a:t>Synchronisation /
consistency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56631" y="5052056"/>
            <a:ext cx="2176272" cy="603504"/>
          </a:xfrm>
          <a:prstGeom prst="roundRect">
            <a:avLst>
              <a:gd name="adj" fmla="val 12000"/>
            </a:avLst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84647" y="5116064"/>
            <a:ext cx="192023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452F"/>
                </a:solidFill>
                <a:latin typeface="Segoe UI"/>
              </a:rPr>
              <a:t>21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Segoe UI"/>
              </a:rPr>
              <a:t>Connectivity /
credentials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33488" y="5052056"/>
            <a:ext cx="2176272" cy="603504"/>
          </a:xfrm>
          <a:prstGeom prst="roundRect">
            <a:avLst>
              <a:gd name="adj" fmla="val 12000"/>
            </a:avLst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61504" y="5116064"/>
            <a:ext cx="192023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452F"/>
                </a:solidFill>
                <a:latin typeface="Segoe UI"/>
              </a:rPr>
              <a:t>11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Segoe UI"/>
              </a:rPr>
              <a:t>SQL / query /
job error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10343" y="5047488"/>
            <a:ext cx="2176272" cy="603504"/>
          </a:xfrm>
          <a:prstGeom prst="roundRect">
            <a:avLst>
              <a:gd name="adj" fmla="val 12000"/>
            </a:avLst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38360" y="5116064"/>
            <a:ext cx="1920239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452F"/>
                </a:solidFill>
                <a:latin typeface="Segoe UI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Segoe UI"/>
              </a:rPr>
              <a:t>Blocking / contention /
deadlock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87044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262626"/>
                </a:solidFill>
                <a:latin typeface="Segoe UI"/>
              </a:rPr>
              <a:t>Performance, contention and index / partition design account for the largest share of incidents — </a:t>
            </a:r>
            <a:r>
              <a:rPr sz="1000" b="1">
                <a:solidFill>
                  <a:srgbClr val="14452F"/>
                </a:solidFill>
                <a:latin typeface="Segoe UI"/>
              </a:rPr>
              <a:t>these are design and capacity issues, not operator error.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02BA1D-E6F7-894E-476D-50A0F3B3770A}"/>
              </a:ext>
            </a:extLst>
          </p:cNvPr>
          <p:cNvSpPr txBox="1"/>
          <p:nvPr/>
        </p:nvSpPr>
        <p:spPr>
          <a:xfrm>
            <a:off x="9208008" y="1462276"/>
            <a:ext cx="233172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dirty="0">
                <a:solidFill>
                  <a:srgbClr val="1F4E79"/>
                </a:solidFill>
                <a:latin typeface="Segoe UI"/>
              </a:rPr>
              <a:t>9.25 </a:t>
            </a:r>
            <a:r>
              <a:rPr sz="2600" b="1" i="0" dirty="0" err="1">
                <a:solidFill>
                  <a:srgbClr val="1F4E79"/>
                </a:solidFill>
                <a:latin typeface="Segoe UI"/>
              </a:rPr>
              <a:t>hr</a:t>
            </a:r>
            <a:endParaRPr sz="2600" b="1" i="0" dirty="0">
              <a:solidFill>
                <a:srgbClr val="1F4E79"/>
              </a:solidFill>
              <a:latin typeface="Segoe UI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 dirty="0">
                <a:solidFill>
                  <a:srgbClr val="595959"/>
                </a:solidFill>
                <a:latin typeface="Segoe UI"/>
              </a:rPr>
              <a:t>Longest recovery — and it was a P3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357624"/>
            <a:ext cx="5715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Segoe UI"/>
              </a:rPr>
              <a:t>A recovery duration was recorded for 17 of the 120 incidents, and for none of the 94 P4s. Shortest and longest above are the observed extremes of those 17.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39319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E79"/>
                </a:solidFill>
                <a:latin typeface="Segoe UI"/>
              </a:rPr>
              <a:t>If it happens again today  —  what we know, and what we cannot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32004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0644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6364224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452F"/>
                </a:solidFill>
                <a:latin typeface="Segoe UI"/>
              </a:rPr>
              <a:t>Manulife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41908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Segoe UI"/>
              </a:rPr>
              <a:t>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8251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2697480" cy="868680"/>
          </a:xfrm>
          <a:prstGeom prst="roundRect">
            <a:avLst>
              <a:gd name="adj" fmla="val 9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50292" cy="8686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444752"/>
            <a:ext cx="233172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Segoe UI"/>
              </a:rPr>
              <a:t>0.22 – 9.25 hr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Segoe UI"/>
              </a:rPr>
              <a:t>Observed recovery range (P2 and P3)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4816" y="1325880"/>
            <a:ext cx="2697480" cy="868680"/>
          </a:xfrm>
          <a:prstGeom prst="roundRect">
            <a:avLst>
              <a:gd name="adj" fmla="val 9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4816" y="1325880"/>
            <a:ext cx="50292" cy="8686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5984" y="1444752"/>
            <a:ext cx="233172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Segoe UI"/>
              </a:rPr>
              <a:t>30%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Segoe UI"/>
              </a:rPr>
              <a:t>Incidents that self-recovered (36 of 120)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8610" y="1325880"/>
            <a:ext cx="2697480" cy="868680"/>
          </a:xfrm>
          <a:prstGeom prst="roundRect">
            <a:avLst>
              <a:gd name="adj" fmla="val 9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98610" y="1325880"/>
            <a:ext cx="50292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99778" y="1444752"/>
            <a:ext cx="233172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00000"/>
                </a:solidFill>
                <a:latin typeface="Segoe UI"/>
              </a:rPr>
              <a:t>Unknown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Segoe UI"/>
              </a:rPr>
              <a:t>Farm members with a tested DR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450592"/>
            <a:ext cx="5239512" cy="3108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92824" y="2505456"/>
            <a:ext cx="49651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What the incident record tells 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761488"/>
            <a:ext cx="523951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2871216"/>
            <a:ext cx="4910328" cy="1623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"/>
            </a:pPr>
            <a:endParaRPr lang="en-US" dirty="0"/>
          </a:p>
          <a:p>
            <a:pPr>
              <a:spcBef>
                <a:spcPts val="0"/>
              </a:spcBef>
            </a:pPr>
            <a:r>
              <a:rPr sz="10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1050" b="1" dirty="0">
                <a:solidFill>
                  <a:srgbClr val="262626"/>
                </a:solidFill>
                <a:latin typeface="Segoe UI"/>
              </a:rPr>
              <a:t>Performance and contention drive the estate </a:t>
            </a:r>
            <a:r>
              <a:rPr sz="1050" dirty="0">
                <a:solidFill>
                  <a:srgbClr val="262626"/>
                </a:solidFill>
                <a:latin typeface="Segoe UI"/>
              </a:rPr>
              <a:t>— 28 performance, latency or timeout, 22 </a:t>
            </a:r>
            <a:r>
              <a:rPr sz="1050" dirty="0" err="1">
                <a:solidFill>
                  <a:srgbClr val="262626"/>
                </a:solidFill>
                <a:latin typeface="Segoe UI"/>
              </a:rPr>
              <a:t>synchronisation</a:t>
            </a:r>
            <a:r>
              <a:rPr sz="1050" dirty="0">
                <a:solidFill>
                  <a:srgbClr val="262626"/>
                </a:solidFill>
                <a:latin typeface="Segoe UI"/>
              </a:rPr>
              <a:t>, 4 blocking. The same causes recur.</a:t>
            </a:r>
          </a:p>
          <a:p>
            <a:pPr>
              <a:spcBef>
                <a:spcPts val="700"/>
              </a:spcBef>
            </a:pPr>
            <a:r>
              <a:rPr sz="10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1050" b="1" dirty="0">
                <a:solidFill>
                  <a:srgbClr val="262626"/>
                </a:solidFill>
                <a:latin typeface="Segoe UI"/>
              </a:rPr>
              <a:t>Severity did not predict duration </a:t>
            </a:r>
            <a:r>
              <a:rPr sz="1050" dirty="0">
                <a:solidFill>
                  <a:srgbClr val="262626"/>
                </a:solidFill>
                <a:latin typeface="Segoe UI"/>
              </a:rPr>
              <a:t>— a P3 ran longer than P2. Triage reflects the initial symptom, not the business exposure.</a:t>
            </a:r>
          </a:p>
          <a:p>
            <a:pPr>
              <a:spcBef>
                <a:spcPts val="700"/>
              </a:spcBef>
            </a:pPr>
            <a:r>
              <a:rPr sz="10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1050" b="1" dirty="0">
                <a:solidFill>
                  <a:srgbClr val="262626"/>
                </a:solidFill>
                <a:latin typeface="Segoe UI"/>
              </a:rPr>
              <a:t>Recovery is largely manual </a:t>
            </a:r>
            <a:r>
              <a:rPr sz="1050" dirty="0">
                <a:solidFill>
                  <a:srgbClr val="262626"/>
                </a:solidFill>
                <a:latin typeface="Segoe UI"/>
              </a:rPr>
              <a:t>— batch rerun 24, restore or rollback 5, restart or failover 3. Recovery depends on people being available.</a:t>
            </a:r>
          </a:p>
          <a:p>
            <a:pPr>
              <a:spcBef>
                <a:spcPts val="700"/>
              </a:spcBef>
            </a:pPr>
            <a:r>
              <a:rPr sz="10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1050" b="1" dirty="0">
                <a:solidFill>
                  <a:srgbClr val="262626"/>
                </a:solidFill>
                <a:latin typeface="Segoe UI"/>
              </a:rPr>
              <a:t>36 incidents self-recovered </a:t>
            </a:r>
            <a:r>
              <a:rPr sz="1050" dirty="0">
                <a:solidFill>
                  <a:srgbClr val="262626"/>
                </a:solidFill>
                <a:latin typeface="Segoe UI"/>
              </a:rPr>
              <a:t>— the failure path worked. That is not evidence the design is sound.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956048"/>
            <a:ext cx="11183112" cy="932688"/>
          </a:xfrm>
          <a:prstGeom prst="roundRect">
            <a:avLst>
              <a:gd name="adj" fmla="val 6000"/>
            </a:avLst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208007"/>
            <a:ext cx="10424160" cy="474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FFFFFF"/>
                </a:solidFill>
                <a:latin typeface="Segoe UI"/>
              </a:rPr>
              <a:t>What we cannot see is a P1 — an actual VM failure, a full SQL instance loss or a database loss.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300" b="1" dirty="0">
                <a:solidFill>
                  <a:srgbClr val="7EE0B0"/>
                </a:solidFill>
                <a:latin typeface="Segoe UI"/>
              </a:rPr>
              <a:t>It has not happened, so it has never been measured. Planning on P2 and P3 alone leaves it out </a:t>
            </a:r>
            <a:r>
              <a:rPr lang="en-US" sz="1300" b="1" dirty="0">
                <a:solidFill>
                  <a:srgbClr val="7EE0B0"/>
                </a:solidFill>
                <a:latin typeface="Segoe UI"/>
              </a:rPr>
              <a:t>P1 and </a:t>
            </a:r>
            <a:r>
              <a:rPr sz="1300" b="1" dirty="0">
                <a:solidFill>
                  <a:srgbClr val="7EE0B0"/>
                </a:solidFill>
                <a:latin typeface="Segoe UI"/>
              </a:rPr>
              <a:t>it has to be factored in.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6713" y="1325880"/>
            <a:ext cx="2697480" cy="868680"/>
          </a:xfrm>
          <a:prstGeom prst="roundRect">
            <a:avLst>
              <a:gd name="adj" fmla="val 9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66713" y="1325880"/>
            <a:ext cx="50292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67881" y="1435607"/>
            <a:ext cx="233172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Segoe UI"/>
              </a:rPr>
              <a:t>Not factored in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595959"/>
                </a:solidFill>
                <a:latin typeface="Segoe UI"/>
              </a:rPr>
              <a:t>P1 — VM, SQL instance or database failure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DD406F-5A3B-32B3-CD90-92FCDC9504BA}"/>
              </a:ext>
            </a:extLst>
          </p:cNvPr>
          <p:cNvSpPr/>
          <p:nvPr/>
        </p:nvSpPr>
        <p:spPr>
          <a:xfrm>
            <a:off x="620268" y="2470295"/>
            <a:ext cx="5477256" cy="31089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875905-43B0-12B3-18C1-FC81DF82CBCC}"/>
              </a:ext>
            </a:extLst>
          </p:cNvPr>
          <p:cNvSpPr txBox="1"/>
          <p:nvPr/>
        </p:nvSpPr>
        <p:spPr>
          <a:xfrm>
            <a:off x="670560" y="2534056"/>
            <a:ext cx="5321808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Segoe UI"/>
              </a:rPr>
              <a:t>What we should also discover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3FDB8C-42CF-E2CE-F2F2-994C0A38ED5B}"/>
              </a:ext>
            </a:extLst>
          </p:cNvPr>
          <p:cNvSpPr/>
          <p:nvPr/>
        </p:nvSpPr>
        <p:spPr>
          <a:xfrm>
            <a:off x="620268" y="2781191"/>
            <a:ext cx="5477256" cy="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8">
            <a:extLst>
              <a:ext uri="{FF2B5EF4-FFF2-40B4-BE49-F238E27FC236}">
                <a16:creationId xmlns:a16="http://schemas.microsoft.com/office/drawing/2014/main" id="{FA6539A2-947A-17AC-1BEF-88D09C0F977C}"/>
              </a:ext>
            </a:extLst>
          </p:cNvPr>
          <p:cNvSpPr/>
          <p:nvPr/>
        </p:nvSpPr>
        <p:spPr>
          <a:xfrm>
            <a:off x="711708" y="2875461"/>
            <a:ext cx="251460" cy="251460"/>
          </a:xfrm>
          <a:prstGeom prst="round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0611D2-BBED-ED7F-FCD0-4D8B6D907DB6}"/>
              </a:ext>
            </a:extLst>
          </p:cNvPr>
          <p:cNvSpPr txBox="1"/>
          <p:nvPr/>
        </p:nvSpPr>
        <p:spPr>
          <a:xfrm>
            <a:off x="711708" y="2875461"/>
            <a:ext cx="251460" cy="2514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A2B56E-82FD-D8C4-6000-A447D1BF0079}"/>
              </a:ext>
            </a:extLst>
          </p:cNvPr>
          <p:cNvSpPr txBox="1"/>
          <p:nvPr/>
        </p:nvSpPr>
        <p:spPr>
          <a:xfrm>
            <a:off x="1077468" y="2863191"/>
            <a:ext cx="490575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262626"/>
                </a:solidFill>
                <a:latin typeface="Segoe UI"/>
              </a:rPr>
              <a:t>Which SQL farm members are on out-of-support versions, and which are compliant?</a:t>
            </a:r>
          </a:p>
          <a:p>
            <a:pPr algn="l">
              <a:spcBef>
                <a:spcPts val="200"/>
              </a:spcBef>
            </a:pPr>
            <a:r>
              <a:rPr sz="800" b="0" dirty="0">
                <a:solidFill>
                  <a:srgbClr val="595959"/>
                </a:solidFill>
                <a:latin typeface="Segoe UI"/>
              </a:rPr>
              <a:t>Sets the supportability floor and the audit exposure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98B13F1-646F-F0AB-FF1D-1D7B6709F094}"/>
              </a:ext>
            </a:extLst>
          </p:cNvPr>
          <p:cNvSpPr/>
          <p:nvPr/>
        </p:nvSpPr>
        <p:spPr>
          <a:xfrm>
            <a:off x="620268" y="3280700"/>
            <a:ext cx="5477256" cy="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2">
            <a:extLst>
              <a:ext uri="{FF2B5EF4-FFF2-40B4-BE49-F238E27FC236}">
                <a16:creationId xmlns:a16="http://schemas.microsoft.com/office/drawing/2014/main" id="{95FFB74E-97DB-E1C7-343E-EE9C6D98785F}"/>
              </a:ext>
            </a:extLst>
          </p:cNvPr>
          <p:cNvSpPr/>
          <p:nvPr/>
        </p:nvSpPr>
        <p:spPr>
          <a:xfrm>
            <a:off x="711708" y="3374970"/>
            <a:ext cx="251460" cy="251460"/>
          </a:xfrm>
          <a:prstGeom prst="round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7D7C5E-999F-E5F4-95F3-8806A5ECBBC5}"/>
              </a:ext>
            </a:extLst>
          </p:cNvPr>
          <p:cNvSpPr txBox="1"/>
          <p:nvPr/>
        </p:nvSpPr>
        <p:spPr>
          <a:xfrm>
            <a:off x="711708" y="3374970"/>
            <a:ext cx="251460" cy="2514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BABF0F-4257-8B0D-0F9D-53A6D9E5F77F}"/>
              </a:ext>
            </a:extLst>
          </p:cNvPr>
          <p:cNvSpPr txBox="1"/>
          <p:nvPr/>
        </p:nvSpPr>
        <p:spPr>
          <a:xfrm>
            <a:off x="1077468" y="3362700"/>
            <a:ext cx="490575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Segoe UI"/>
              </a:rPr>
              <a:t>Which have no HA design, and which DR paths have been tested regularly?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Segoe UI"/>
              </a:rPr>
              <a:t>Tells us what survives a P1 event, and what does not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2031CB6-B08D-D7A7-04D2-FC00A007C9FA}"/>
              </a:ext>
            </a:extLst>
          </p:cNvPr>
          <p:cNvSpPr/>
          <p:nvPr/>
        </p:nvSpPr>
        <p:spPr>
          <a:xfrm>
            <a:off x="620268" y="3780209"/>
            <a:ext cx="5477256" cy="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ounded Rectangle 46">
            <a:extLst>
              <a:ext uri="{FF2B5EF4-FFF2-40B4-BE49-F238E27FC236}">
                <a16:creationId xmlns:a16="http://schemas.microsoft.com/office/drawing/2014/main" id="{4AC80B61-0389-59E3-BE3C-D41A55EBDF33}"/>
              </a:ext>
            </a:extLst>
          </p:cNvPr>
          <p:cNvSpPr/>
          <p:nvPr/>
        </p:nvSpPr>
        <p:spPr>
          <a:xfrm>
            <a:off x="711708" y="3874479"/>
            <a:ext cx="251460" cy="251460"/>
          </a:xfrm>
          <a:prstGeom prst="round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CC8E99-FB59-4920-AF76-FB7D892E6F88}"/>
              </a:ext>
            </a:extLst>
          </p:cNvPr>
          <p:cNvSpPr txBox="1"/>
          <p:nvPr/>
        </p:nvSpPr>
        <p:spPr>
          <a:xfrm>
            <a:off x="711708" y="3874479"/>
            <a:ext cx="251460" cy="2514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DA00DD-5A8D-685A-39CE-F32DD17088C6}"/>
              </a:ext>
            </a:extLst>
          </p:cNvPr>
          <p:cNvSpPr txBox="1"/>
          <p:nvPr/>
        </p:nvSpPr>
        <p:spPr>
          <a:xfrm>
            <a:off x="1077468" y="3862209"/>
            <a:ext cx="490575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Segoe UI"/>
              </a:rPr>
              <a:t>Which SQL instances and databases take longest to recover, and why?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Segoe UI"/>
              </a:rPr>
              <a:t>Turns MTTR from an average into a named target list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916FEE8-A72A-C16F-29EC-5D069999A3D4}"/>
              </a:ext>
            </a:extLst>
          </p:cNvPr>
          <p:cNvSpPr/>
          <p:nvPr/>
        </p:nvSpPr>
        <p:spPr>
          <a:xfrm>
            <a:off x="620268" y="4279719"/>
            <a:ext cx="5477256" cy="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7C7B6ABB-2C74-51B2-392D-B8DBEAB86553}"/>
              </a:ext>
            </a:extLst>
          </p:cNvPr>
          <p:cNvSpPr/>
          <p:nvPr/>
        </p:nvSpPr>
        <p:spPr>
          <a:xfrm>
            <a:off x="711708" y="4373989"/>
            <a:ext cx="251460" cy="251460"/>
          </a:xfrm>
          <a:prstGeom prst="round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213E99-2B1B-CB54-0DD7-71E6350BB0AA}"/>
              </a:ext>
            </a:extLst>
          </p:cNvPr>
          <p:cNvSpPr txBox="1"/>
          <p:nvPr/>
        </p:nvSpPr>
        <p:spPr>
          <a:xfrm>
            <a:off x="711708" y="4373989"/>
            <a:ext cx="251460" cy="2514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882735-3DD9-74B5-9984-10E8639AC2C6}"/>
              </a:ext>
            </a:extLst>
          </p:cNvPr>
          <p:cNvSpPr txBox="1"/>
          <p:nvPr/>
        </p:nvSpPr>
        <p:spPr>
          <a:xfrm>
            <a:off x="1077468" y="4361719"/>
            <a:ext cx="490575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Segoe UI"/>
              </a:rPr>
              <a:t>Which applications can be retired, and which have no upgrade path?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Segoe UI"/>
              </a:rPr>
              <a:t>Separates what we invest in from what we let retire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98996"/>
            <a:ext cx="1115568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 dirty="0">
                <a:solidFill>
                  <a:srgbClr val="1F4E79"/>
                </a:solidFill>
                <a:latin typeface="Segoe UI"/>
              </a:rPr>
              <a:t>What we are solving  —  </a:t>
            </a:r>
            <a:r>
              <a:rPr lang="en-US" sz="2500" b="1" dirty="0">
                <a:solidFill>
                  <a:srgbClr val="1F4E79"/>
                </a:solidFill>
                <a:latin typeface="Segoe UI"/>
              </a:rPr>
              <a:t>Stabilize</a:t>
            </a:r>
            <a:r>
              <a:rPr sz="2500" b="1" i="0" dirty="0">
                <a:solidFill>
                  <a:srgbClr val="1F4E79"/>
                </a:solidFill>
                <a:latin typeface="Segoe UI"/>
              </a:rPr>
              <a:t>, </a:t>
            </a:r>
            <a:r>
              <a:rPr lang="en-US" sz="2500" b="1" dirty="0">
                <a:solidFill>
                  <a:srgbClr val="1F4E79"/>
                </a:solidFill>
                <a:latin typeface="Segoe UI"/>
              </a:rPr>
              <a:t>Modernize</a:t>
            </a:r>
            <a:r>
              <a:rPr sz="2500" b="1" i="0" dirty="0">
                <a:solidFill>
                  <a:srgbClr val="1F4E79"/>
                </a:solidFill>
                <a:latin typeface="Segoe UI"/>
              </a:rPr>
              <a:t>, </a:t>
            </a:r>
            <a:r>
              <a:rPr lang="en-US" sz="2500" b="1" i="0" dirty="0">
                <a:solidFill>
                  <a:srgbClr val="1F4E79"/>
                </a:solidFill>
                <a:latin typeface="Segoe UI"/>
              </a:rPr>
              <a:t>S</a:t>
            </a:r>
            <a:r>
              <a:rPr sz="2500" b="1" i="0" dirty="0">
                <a:solidFill>
                  <a:srgbClr val="1F4E79"/>
                </a:solidFill>
                <a:latin typeface="Segoe UI"/>
              </a:rPr>
              <a:t>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32004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0644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45720" cy="1828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6364224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452F"/>
                </a:solidFill>
                <a:latin typeface="Segoe UI"/>
              </a:rPr>
              <a:t>Manulife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41908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95959"/>
                </a:solidFill>
                <a:latin typeface="Segoe UI"/>
              </a:rPr>
              <a:t>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8251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Segoe U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3703320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280160"/>
            <a:ext cx="3703320" cy="420624"/>
          </a:xfrm>
          <a:prstGeom prst="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353312"/>
            <a:ext cx="337413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758"/>
                </a:solidFill>
                <a:latin typeface="Segoe UI"/>
              </a:rPr>
              <a:t>01   </a:t>
            </a:r>
            <a:r>
              <a:rPr sz="1300" b="1">
                <a:solidFill>
                  <a:srgbClr val="FFFFFF"/>
                </a:solidFill>
                <a:latin typeface="Segoe UI"/>
              </a:rPr>
              <a:t>STABILISE</a:t>
            </a:r>
            <a:r>
              <a:rPr sz="900">
                <a:solidFill>
                  <a:srgbClr val="B8D8C8"/>
                </a:solidFill>
                <a:latin typeface="Segoe UI"/>
              </a:rPr>
              <a:t>      Now to end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792224"/>
            <a:ext cx="3374136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"/>
            </a:pPr>
            <a:endParaRPr dirty="0"/>
          </a:p>
          <a:p>
            <a:pPr>
              <a:spcBef>
                <a:spcPts val="0"/>
              </a:spcBef>
            </a:pPr>
            <a:r>
              <a:rPr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850" dirty="0">
                <a:solidFill>
                  <a:srgbClr val="262626"/>
                </a:solidFill>
                <a:latin typeface="Segoe UI"/>
              </a:rPr>
              <a:t>Make recovery measurable</a:t>
            </a:r>
            <a:r>
              <a:rPr lang="en-US" sz="850" dirty="0">
                <a:solidFill>
                  <a:srgbClr val="262626"/>
                </a:solidFill>
                <a:latin typeface="Segoe UI"/>
              </a:rPr>
              <a:t> .</a:t>
            </a:r>
          </a:p>
          <a:p>
            <a:pPr>
              <a:spcBef>
                <a:spcPts val="700"/>
              </a:spcBef>
            </a:pPr>
            <a:r>
              <a:rPr lang="en-US"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lang="en-US" sz="850" dirty="0">
                <a:solidFill>
                  <a:srgbClr val="262626"/>
                </a:solidFill>
                <a:latin typeface="Segoe UI"/>
              </a:rPr>
              <a:t>Root cause analysis on the recurring performance and contention incidents</a:t>
            </a:r>
          </a:p>
          <a:p>
            <a:pPr>
              <a:spcBef>
                <a:spcPts val="700"/>
              </a:spcBef>
            </a:pPr>
            <a:r>
              <a:rPr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850" dirty="0">
                <a:solidFill>
                  <a:srgbClr val="262626"/>
                </a:solidFill>
                <a:latin typeface="Segoe UI"/>
              </a:rPr>
              <a:t>Fix what recurs: query tuning, blocking, index and partition redesign</a:t>
            </a:r>
          </a:p>
          <a:p>
            <a:pPr>
              <a:spcBef>
                <a:spcPts val="700"/>
              </a:spcBef>
            </a:pPr>
            <a:r>
              <a:rPr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850" dirty="0">
                <a:solidFill>
                  <a:srgbClr val="262626"/>
                </a:solidFill>
                <a:latin typeface="Segoe UI"/>
              </a:rPr>
              <a:t>Standardize runbooks so recovery is not person-dependent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" y="3255264"/>
            <a:ext cx="3701491" cy="379476"/>
          </a:xfrm>
          <a:prstGeom prst="rect">
            <a:avLst/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3346704"/>
            <a:ext cx="33741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452F"/>
                </a:solidFill>
                <a:latin typeface="Segoe UI"/>
              </a:rPr>
              <a:t>Outcome:  recovery becomes predictable and measurable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8827" y="1280160"/>
            <a:ext cx="3703320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8827" y="1280160"/>
            <a:ext cx="3703320" cy="420624"/>
          </a:xfrm>
          <a:prstGeom prst="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3419" y="1353312"/>
            <a:ext cx="337413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00A758"/>
                </a:solidFill>
                <a:latin typeface="Segoe UI"/>
              </a:rPr>
              <a:t>02   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MODERNISE</a:t>
            </a:r>
            <a:r>
              <a:rPr sz="900" dirty="0">
                <a:solidFill>
                  <a:srgbClr val="B8D8C8"/>
                </a:solidFill>
                <a:latin typeface="Segoe UI"/>
              </a:rPr>
              <a:t>     </a:t>
            </a:r>
            <a:r>
              <a:rPr lang="en-US" sz="900" dirty="0">
                <a:solidFill>
                  <a:srgbClr val="B8D8C8"/>
                </a:solidFill>
                <a:latin typeface="Segoe UI"/>
              </a:rPr>
              <a:t>Early</a:t>
            </a:r>
            <a:r>
              <a:rPr sz="900" dirty="0">
                <a:solidFill>
                  <a:srgbClr val="B8D8C8"/>
                </a:solidFill>
                <a:latin typeface="Segoe UI"/>
              </a:rPr>
              <a:t> 2026 to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3419" y="1792224"/>
            <a:ext cx="3374136" cy="1156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"/>
            </a:pPr>
            <a:endParaRPr dirty="0"/>
          </a:p>
          <a:p>
            <a:pPr>
              <a:spcBef>
                <a:spcPts val="0"/>
              </a:spcBef>
            </a:pPr>
            <a:r>
              <a:rPr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850" dirty="0">
                <a:solidFill>
                  <a:srgbClr val="262626"/>
                </a:solidFill>
                <a:latin typeface="Segoe UI"/>
              </a:rPr>
              <a:t>These systems were sized for what they carried when they were built — more components, more applications and far more data sit on them now</a:t>
            </a:r>
          </a:p>
          <a:p>
            <a:pPr>
              <a:spcBef>
                <a:spcPts val="700"/>
              </a:spcBef>
            </a:pPr>
            <a:r>
              <a:rPr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lang="en-US" sz="850" dirty="0">
                <a:solidFill>
                  <a:srgbClr val="262626"/>
                </a:solidFill>
                <a:latin typeface="Segoe UI"/>
              </a:rPr>
              <a:t>Use cloud where it delivers , retain dedicated infrastructure where required, and size to current workloads .</a:t>
            </a:r>
            <a:endParaRPr sz="850" dirty="0">
              <a:solidFill>
                <a:srgbClr val="262626"/>
              </a:solidFill>
              <a:latin typeface="Segoe UI"/>
            </a:endParaRPr>
          </a:p>
          <a:p>
            <a:pPr>
              <a:spcBef>
                <a:spcPts val="700"/>
              </a:spcBef>
            </a:pPr>
            <a:r>
              <a:rPr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850" dirty="0">
                <a:solidFill>
                  <a:srgbClr val="262626"/>
                </a:solidFill>
                <a:latin typeface="Segoe UI"/>
              </a:rPr>
              <a:t>Supported SQL versions, using cloud infrastructure and current tooling where they fit</a:t>
            </a:r>
            <a:r>
              <a:rPr lang="en-US" sz="850" dirty="0">
                <a:solidFill>
                  <a:srgbClr val="262626"/>
                </a:solidFill>
                <a:latin typeface="Segoe UI"/>
              </a:rPr>
              <a:t> for Scalable Options </a:t>
            </a:r>
            <a:endParaRPr sz="850" dirty="0">
              <a:solidFill>
                <a:srgbClr val="262626"/>
              </a:solidFill>
              <a:latin typeface="Segoe U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39742" y="3255264"/>
            <a:ext cx="3701491" cy="379476"/>
          </a:xfrm>
          <a:prstGeom prst="rect">
            <a:avLst/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3419" y="3346704"/>
            <a:ext cx="33741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4452F"/>
                </a:solidFill>
                <a:latin typeface="Segoe UI"/>
              </a:rPr>
              <a:t>Outcome:  performance and stability issues resolved — systems operational and reliable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1280160"/>
            <a:ext cx="3703320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1280160"/>
            <a:ext cx="3703320" cy="420624"/>
          </a:xfrm>
          <a:prstGeom prst="rect">
            <a:avLst/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1353312"/>
            <a:ext cx="33741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758"/>
                </a:solidFill>
                <a:latin typeface="Segoe UI"/>
              </a:rPr>
              <a:t>03   </a:t>
            </a:r>
            <a:r>
              <a:rPr sz="1300" b="1">
                <a:solidFill>
                  <a:srgbClr val="FFFFFF"/>
                </a:solidFill>
                <a:latin typeface="Segoe UI"/>
              </a:rPr>
              <a:t>SCALE</a:t>
            </a:r>
            <a:r>
              <a:rPr sz="900">
                <a:solidFill>
                  <a:srgbClr val="B8D8C8"/>
                </a:solidFill>
                <a:latin typeface="Segoe UI"/>
              </a:rPr>
              <a:t>      2026 to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1792224"/>
            <a:ext cx="3374136" cy="1115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"/>
            </a:pPr>
            <a:endParaRPr dirty="0"/>
          </a:p>
          <a:p>
            <a:pPr>
              <a:spcBef>
                <a:spcPts val="0"/>
              </a:spcBef>
            </a:pPr>
            <a:r>
              <a:rPr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850" dirty="0">
                <a:solidFill>
                  <a:srgbClr val="262626"/>
                </a:solidFill>
                <a:latin typeface="Segoe UI"/>
              </a:rPr>
              <a:t>Scale up the members the business depends on, with HA design (Always On / FCI) where criticality justifies it</a:t>
            </a:r>
          </a:p>
          <a:p>
            <a:pPr>
              <a:spcBef>
                <a:spcPts val="700"/>
              </a:spcBef>
            </a:pPr>
            <a:r>
              <a:rPr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sz="850" dirty="0">
                <a:solidFill>
                  <a:srgbClr val="262626"/>
                </a:solidFill>
                <a:latin typeface="Segoe UI"/>
              </a:rPr>
              <a:t>A DR path that is documented, owned and actually tested</a:t>
            </a:r>
          </a:p>
          <a:p>
            <a:pPr>
              <a:spcBef>
                <a:spcPts val="700"/>
              </a:spcBef>
            </a:pPr>
            <a:r>
              <a:rPr sz="850" b="0" dirty="0">
                <a:solidFill>
                  <a:srgbClr val="00A758"/>
                </a:solidFill>
                <a:latin typeface="Segoe UI"/>
              </a:rPr>
              <a:t>▪  </a:t>
            </a:r>
            <a:r>
              <a:rPr lang="en-US" sz="850" dirty="0">
                <a:solidFill>
                  <a:srgbClr val="262626"/>
                </a:solidFill>
                <a:latin typeface="Segoe UI"/>
              </a:rPr>
              <a:t>Room to explore Cloud technologies to achieve same operational abilities but a headroom to scale them easily for any needs. </a:t>
            </a:r>
          </a:p>
          <a:p>
            <a:pPr>
              <a:spcBef>
                <a:spcPts val="700"/>
              </a:spcBef>
            </a:pPr>
            <a:endParaRPr sz="850" dirty="0">
              <a:solidFill>
                <a:srgbClr val="262626"/>
              </a:solidFill>
              <a:latin typeface="Segoe U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75650" y="3255264"/>
            <a:ext cx="3701491" cy="379476"/>
          </a:xfrm>
          <a:prstGeom prst="rect">
            <a:avLst/>
          </a:prstGeom>
          <a:solidFill>
            <a:srgbClr val="E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346704"/>
            <a:ext cx="33741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452F"/>
                </a:solidFill>
                <a:latin typeface="Segoe UI"/>
              </a:rPr>
              <a:t>Outcome:  capacity matched to the business, with HA and DR where criticality demands 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67328"/>
            <a:ext cx="11183112" cy="804672"/>
          </a:xfrm>
          <a:prstGeom prst="rect">
            <a:avLst/>
          </a:prstGeom>
          <a:solidFill>
            <a:srgbClr val="FFFFFF"/>
          </a:solidFill>
          <a:ln w="22225">
            <a:solidFill>
              <a:srgbClr val="14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3849624"/>
            <a:ext cx="10515600" cy="536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0" b="1" dirty="0">
                <a:solidFill>
                  <a:srgbClr val="14452F"/>
                </a:solidFill>
                <a:latin typeface="Segoe UI"/>
              </a:rPr>
              <a:t>Modernization Focused on Operational Resilience</a:t>
            </a:r>
            <a:r>
              <a:rPr sz="1250" b="1" dirty="0">
                <a:solidFill>
                  <a:srgbClr val="14452F"/>
                </a:solidFill>
                <a:latin typeface="Segoe UI"/>
              </a:rPr>
              <a:t>.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950" b="0" dirty="0">
                <a:solidFill>
                  <a:srgbClr val="262626"/>
                </a:solidFill>
                <a:latin typeface="Segoe UI"/>
              </a:rPr>
              <a:t>We are not re-architecting what is already stable. We invest only in supportability, performance, capacity and, where criticality justifies it, HA and DR — using cloud infrastructure, current tooling and AI-assisted analysis wherever they shorten the path or let us reach a decision faster.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18304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6B4F"/>
                </a:solidFill>
                <a:latin typeface="Segoe UI"/>
              </a:rPr>
              <a:t>INVESTMENT DISCIPLINE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74336"/>
            <a:ext cx="1828800" cy="932688"/>
          </a:xfrm>
          <a:prstGeom prst="roundRect">
            <a:avLst>
              <a:gd name="adj" fmla="val 10000"/>
            </a:avLst>
          </a:prstGeom>
          <a:solidFill>
            <a:srgbClr val="F2F4F3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" y="5047488"/>
            <a:ext cx="1572768" cy="638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14452F"/>
                </a:solidFill>
                <a:latin typeface="Segoe UI"/>
              </a:rPr>
              <a:t>RETIRE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dirty="0">
                <a:solidFill>
                  <a:srgbClr val="595959"/>
                </a:solidFill>
                <a:latin typeface="Segoe UI"/>
              </a:rPr>
              <a:t>CAS and </a:t>
            </a:r>
            <a:r>
              <a:rPr lang="en-US" sz="800" b="0" dirty="0">
                <a:solidFill>
                  <a:srgbClr val="595959"/>
                </a:solidFill>
                <a:latin typeface="Segoe UI"/>
              </a:rPr>
              <a:t>components that will be </a:t>
            </a:r>
            <a:r>
              <a:rPr sz="800" b="0" dirty="0">
                <a:solidFill>
                  <a:srgbClr val="595959"/>
                </a:solidFill>
                <a:latin typeface="Segoe UI"/>
              </a:rPr>
              <a:t>decom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1" dirty="0">
                <a:solidFill>
                  <a:srgbClr val="595959"/>
                </a:solidFill>
                <a:latin typeface="Segoe UI"/>
              </a:rPr>
              <a:t>NO INVESTMENT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46020" y="4974336"/>
            <a:ext cx="1828800" cy="932688"/>
          </a:xfrm>
          <a:prstGeom prst="roundRect">
            <a:avLst>
              <a:gd name="adj" fmla="val 10000"/>
            </a:avLst>
          </a:prstGeom>
          <a:solidFill>
            <a:srgbClr val="E6F1EA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4036" y="5047488"/>
            <a:ext cx="1572768" cy="515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14452F"/>
                </a:solidFill>
                <a:latin typeface="Segoe UI"/>
              </a:rPr>
              <a:t>Measure and </a:t>
            </a:r>
            <a:r>
              <a:rPr sz="1050" b="1" dirty="0">
                <a:solidFill>
                  <a:srgbClr val="14452F"/>
                </a:solidFill>
                <a:latin typeface="Segoe UI"/>
              </a:rPr>
              <a:t>REDESIGN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 dirty="0">
                <a:solidFill>
                  <a:srgbClr val="595959"/>
                </a:solidFill>
                <a:latin typeface="Segoe UI"/>
              </a:rPr>
              <a:t>Must keep running OA / GA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1" dirty="0">
                <a:solidFill>
                  <a:srgbClr val="14452F"/>
                </a:solidFill>
                <a:latin typeface="Segoe UI"/>
              </a:rPr>
              <a:t>WHERE WE INVEST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974336"/>
            <a:ext cx="1828800" cy="932688"/>
          </a:xfrm>
          <a:prstGeom prst="roundRect">
            <a:avLst>
              <a:gd name="adj" fmla="val 10000"/>
            </a:avLst>
          </a:prstGeom>
          <a:solidFill>
            <a:srgbClr val="F2F4F3"/>
          </a:solidFill>
          <a:ln w="9525">
            <a:solidFill>
              <a:srgbClr val="C9D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17136" y="5047488"/>
            <a:ext cx="1572768" cy="515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14452F"/>
                </a:solidFill>
                <a:latin typeface="Segoe UI"/>
              </a:rPr>
              <a:t>SUSTAIN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lang="en-US" sz="800" b="0" dirty="0">
                <a:solidFill>
                  <a:srgbClr val="595959"/>
                </a:solidFill>
                <a:latin typeface="Segoe UI"/>
              </a:rPr>
              <a:t>Both Operational and reliable </a:t>
            </a:r>
            <a:endParaRPr sz="800" b="0" dirty="0">
              <a:solidFill>
                <a:srgbClr val="595959"/>
              </a:solidFill>
              <a:latin typeface="Segoe UI"/>
            </a:endParaRP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1" dirty="0">
                <a:solidFill>
                  <a:srgbClr val="595959"/>
                </a:solidFill>
                <a:latin typeface="Segoe UI"/>
              </a:rPr>
              <a:t>NO INVESTMENT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4974336"/>
            <a:ext cx="5239512" cy="932688"/>
          </a:xfrm>
          <a:prstGeom prst="roundRect">
            <a:avLst>
              <a:gd name="adj" fmla="val 8000"/>
            </a:avLst>
          </a:prstGeom>
          <a:solidFill>
            <a:srgbClr val="14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47688" y="5029200"/>
            <a:ext cx="4837176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A758"/>
                </a:solidFill>
                <a:latin typeface="Segoe UI"/>
              </a:rPr>
              <a:t>WHAT WE ARE DOING NOW — DISCOVER AND BASELINE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50" b="0" dirty="0">
                <a:solidFill>
                  <a:srgbClr val="FFFFFF"/>
                </a:solidFill>
                <a:latin typeface="Segoe UI"/>
              </a:rPr>
              <a:t>1.  Draw the baseline — what we run, and how it recovers</a:t>
            </a:r>
            <a:r>
              <a:rPr lang="en-US" sz="950" b="0" dirty="0">
                <a:solidFill>
                  <a:srgbClr val="FFFFFF"/>
                </a:solidFill>
                <a:latin typeface="Segoe UI"/>
              </a:rPr>
              <a:t> and the times .</a:t>
            </a:r>
            <a:endParaRPr sz="950" b="0" dirty="0">
              <a:solidFill>
                <a:srgbClr val="FFFFFF"/>
              </a:solidFill>
              <a:latin typeface="Segoe UI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50" b="0" dirty="0">
                <a:solidFill>
                  <a:srgbClr val="FFFFFF"/>
                </a:solidFill>
                <a:latin typeface="Segoe UI"/>
              </a:rPr>
              <a:t>2.  Classify every </a:t>
            </a:r>
            <a:r>
              <a:rPr lang="en-US" sz="950" b="0" dirty="0">
                <a:solidFill>
                  <a:srgbClr val="FFFFFF"/>
                </a:solidFill>
                <a:latin typeface="Segoe UI"/>
              </a:rPr>
              <a:t>SQL Instance </a:t>
            </a:r>
            <a:r>
              <a:rPr sz="950" b="0" dirty="0">
                <a:solidFill>
                  <a:srgbClr val="FFFFFF"/>
                </a:solidFill>
                <a:latin typeface="Segoe UI"/>
              </a:rPr>
              <a:t> — retire, redesign or sustain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970</Words>
  <Application>Microsoft Office PowerPoint</Application>
  <PresentationFormat>Widescreen</PresentationFormat>
  <Paragraphs>126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Kotte</cp:lastModifiedBy>
  <cp:revision>7</cp:revision>
  <dcterms:created xsi:type="dcterms:W3CDTF">2013-01-27T09:14:16Z</dcterms:created>
  <dcterms:modified xsi:type="dcterms:W3CDTF">2026-09-23T15:38:38Z</dcterms:modified>
  <cp:category/>
</cp:coreProperties>
</file>