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65000"/>
            <a:ext cx="11183112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Segoe UI"/>
              </a:rPr>
              <a:t>Pillar 1: MTTR &amp; SQL Farm Modernization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0000"/>
            <a:ext cx="11183112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Segoe UI"/>
              </a:rPr>
              <a:t>120 database-related incidents, January to September 2026</a:t>
            </a:r>
            <a:r>
              <a:rPr sz="1100" b="0">
                <a:solidFill>
                  <a:srgbClr val="00A758"/>
                </a:solidFill>
                <a:latin typeface="Segoe UI"/>
              </a:rPr>
              <a:t>  —  </a:t>
            </a:r>
            <a:r>
              <a:rPr sz="1100" b="0">
                <a:solidFill>
                  <a:srgbClr val="595959"/>
                </a:solidFill>
                <a:latin typeface="Segoe UI"/>
              </a:rPr>
              <a:t>what the record shows, what it cannot show, and what we are doing about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0000"/>
            <a:ext cx="11183112" cy="32004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70000"/>
            <a:ext cx="2126894" cy="6800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70000"/>
            <a:ext cx="50292" cy="6800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0920" y="1262000"/>
            <a:ext cx="1857454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Segoe UI"/>
              </a:rPr>
              <a:t>120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595959"/>
                </a:solidFill>
                <a:latin typeface="Segoe UI"/>
              </a:rPr>
              <a:t>Database-related incidents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6974" y="1170000"/>
            <a:ext cx="2126894" cy="6800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66974" y="1170000"/>
            <a:ext cx="50292" cy="6800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44974" y="1262000"/>
            <a:ext cx="1857454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Segoe UI"/>
              </a:rPr>
              <a:t>0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595959"/>
                </a:solidFill>
                <a:latin typeface="Segoe UI"/>
              </a:rPr>
              <a:t>P1 incidents recorded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1028" y="1170000"/>
            <a:ext cx="2126894" cy="6800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31028" y="1170000"/>
            <a:ext cx="50292" cy="6800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09028" y="1262000"/>
            <a:ext cx="1857454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Segoe UI"/>
              </a:rPr>
              <a:t>0.22 hr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595959"/>
                </a:solidFill>
                <a:latin typeface="Segoe UI"/>
              </a:rPr>
              <a:t>Shortest recovery observed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5082" y="1170000"/>
            <a:ext cx="2126894" cy="6800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95082" y="1170000"/>
            <a:ext cx="50292" cy="68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3082" y="1262000"/>
            <a:ext cx="1857454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00000"/>
                </a:solidFill>
                <a:latin typeface="Segoe UI"/>
              </a:rPr>
              <a:t>9.25 hr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595959"/>
                </a:solidFill>
                <a:latin typeface="Segoe UI"/>
              </a:rPr>
              <a:t>Longest recovery, and it was a P3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9136" y="1170000"/>
            <a:ext cx="2126894" cy="6800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9136" y="1170000"/>
            <a:ext cx="50292" cy="68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7136" y="1262000"/>
            <a:ext cx="1857454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00000"/>
                </a:solidFill>
                <a:latin typeface="Segoe UI"/>
              </a:rPr>
              <a:t>Unknown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595959"/>
                </a:solidFill>
                <a:latin typeface="Segoe UI"/>
              </a:rPr>
              <a:t>Farm members with a tested DR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920000"/>
            <a:ext cx="5477256" cy="29000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0644" y="1984000"/>
            <a:ext cx="5321808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What the record shows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10000"/>
            <a:ext cx="5477256" cy="18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564695"/>
              </p:ext>
            </p:extLst>
          </p:nvPr>
        </p:nvGraphicFramePr>
        <p:xfrm>
          <a:off x="594360" y="2270000"/>
          <a:ext cx="5294376" cy="115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18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64000" marR="64000" marT="18000" marB="18000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Incidents</a:t>
                      </a:r>
                    </a:p>
                  </a:txBody>
                  <a:tcPr marL="64000" marR="64000" marT="18000" marB="18000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Shortest</a:t>
                      </a:r>
                    </a:p>
                  </a:txBody>
                  <a:tcPr marL="64000" marR="64000" marT="18000" marB="18000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Longest</a:t>
                      </a:r>
                    </a:p>
                  </a:txBody>
                  <a:tcPr marL="64000" marR="64000" marT="18000" marB="18000" anchor="ctr"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6262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0.22 hr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Segoe UI"/>
                        </a:rPr>
                        <a:t>7.58 hr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P3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0.23 hr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Segoe UI"/>
                        </a:rPr>
                        <a:t>9.25 hr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P4 / Other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94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6262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0" marR="6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80644" y="3064132"/>
            <a:ext cx="5294376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>
                <a:solidFill>
                  <a:srgbClr val="595959"/>
                </a:solidFill>
                <a:latin typeface="Segoe U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05000"/>
            <a:ext cx="5294376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dirty="0">
                <a:solidFill>
                  <a:srgbClr val="2E6B4F"/>
                </a:solidFill>
                <a:latin typeface="Segoe UI"/>
              </a:rPr>
              <a:t>Dominant failure modes:  </a:t>
            </a:r>
            <a:r>
              <a:rPr sz="850" b="0" dirty="0">
                <a:solidFill>
                  <a:srgbClr val="262626"/>
                </a:solidFill>
                <a:latin typeface="Segoe UI"/>
              </a:rPr>
              <a:t>performance, latency or timeout 28, synchronization 22, connectivity 21, SQL, query or job 11, blocking or contention 4</a:t>
            </a:r>
          </a:p>
          <a:p>
            <a:pPr algn="l">
              <a:spcBef>
                <a:spcPts val="600"/>
              </a:spcBef>
            </a:pPr>
            <a:r>
              <a:rPr sz="900" b="1" dirty="0">
                <a:solidFill>
                  <a:srgbClr val="14452F"/>
                </a:solidFill>
                <a:latin typeface="Segoe UI"/>
              </a:rPr>
              <a:t>These are design and capacity issues, not operator error.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1920000"/>
            <a:ext cx="5477256" cy="29000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6500" y="1984000"/>
            <a:ext cx="5321808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What we cannot see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210000"/>
            <a:ext cx="5477256" cy="18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0216" y="2300000"/>
            <a:ext cx="45720" cy="30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5936" y="2280000"/>
            <a:ext cx="5148656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Segoe UI"/>
              </a:rPr>
              <a:t>A P1 has never been recorded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595959"/>
                </a:solidFill>
                <a:latin typeface="Segoe UI"/>
              </a:rPr>
              <a:t>No VM, SQL instance or database loss sits in the data. It has never been measured, so it is not factored 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216" y="2720000"/>
            <a:ext cx="45720" cy="30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5936" y="2700000"/>
            <a:ext cx="5148656" cy="30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50" b="1" dirty="0">
                <a:solidFill>
                  <a:srgbClr val="262626"/>
                </a:solidFill>
                <a:latin typeface="Segoe UI"/>
              </a:rPr>
              <a:t>There is no recovery time we can guarantee today.</a:t>
            </a:r>
          </a:p>
          <a:p>
            <a:pPr>
              <a:spcBef>
                <a:spcPts val="200"/>
              </a:spcBef>
            </a:pPr>
            <a:r>
              <a:rPr lang="en-US" sz="850" dirty="0">
                <a:solidFill>
                  <a:srgbClr val="595959"/>
                </a:solidFill>
                <a:latin typeface="Segoe UI"/>
              </a:rPr>
              <a:t>Duration is driven by what failed and what sat behind it, not by severity</a:t>
            </a:r>
            <a:endParaRPr sz="850" b="0" dirty="0">
              <a:solidFill>
                <a:srgbClr val="595959"/>
              </a:solidFill>
              <a:latin typeface="Segoe U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00216" y="3140000"/>
            <a:ext cx="45720" cy="30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5936" y="3120000"/>
            <a:ext cx="5148656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262626"/>
                </a:solidFill>
                <a:latin typeface="Segoe UI"/>
              </a:rPr>
              <a:t>DR coverage is unknown</a:t>
            </a:r>
          </a:p>
          <a:p>
            <a:pPr algn="l">
              <a:spcBef>
                <a:spcPts val="200"/>
              </a:spcBef>
            </a:pPr>
            <a:r>
              <a:rPr sz="850" b="0" dirty="0">
                <a:solidFill>
                  <a:srgbClr val="595959"/>
                </a:solidFill>
                <a:latin typeface="Segoe UI"/>
              </a:rPr>
              <a:t>Nobody in this program can say today which farm members have a tested DR path.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0216" y="3560000"/>
            <a:ext cx="5294376" cy="9525"/>
          </a:xfrm>
          <a:prstGeom prst="rect">
            <a:avLst/>
          </a:prstGeom>
          <a:solidFill>
            <a:srgbClr val="C9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0216" y="3630000"/>
            <a:ext cx="5294376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E6B4F"/>
                </a:solidFill>
                <a:latin typeface="Segoe UI"/>
              </a:rPr>
              <a:t>Nobody can answer these today: </a:t>
            </a:r>
            <a:r>
              <a:rPr sz="850" b="0">
                <a:solidFill>
                  <a:srgbClr val="262626"/>
                </a:solidFill>
                <a:latin typeface="Segoe UI"/>
              </a:rPr>
              <a:t>which members are on out-of-support versions, which have no tested DR path, which databases take longest to recover, and which applications have no upgrade path.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180000"/>
            <a:ext cx="3636264" cy="1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4180000"/>
            <a:ext cx="3636264" cy="320000"/>
          </a:xfrm>
          <a:prstGeom prst="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268000"/>
            <a:ext cx="3361944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A758"/>
                </a:solidFill>
                <a:latin typeface="Segoe UI"/>
              </a:rPr>
              <a:t>01   </a:t>
            </a:r>
            <a:r>
              <a:rPr sz="1150" b="1">
                <a:solidFill>
                  <a:srgbClr val="FFFFFF"/>
                </a:solidFill>
                <a:latin typeface="Segoe UI"/>
              </a:rPr>
              <a:t>STABILISE</a:t>
            </a:r>
            <a:r>
              <a:rPr sz="800" b="0">
                <a:solidFill>
                  <a:srgbClr val="B8D8C8"/>
                </a:solidFill>
                <a:latin typeface="Segoe UI"/>
              </a:rPr>
              <a:t>     Now to end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555000"/>
            <a:ext cx="3361944" cy="8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Make recovery measurable, restore duration mandatory at close</a:t>
            </a:r>
          </a:p>
          <a:p>
            <a:pPr algn="l">
              <a:spcBef>
                <a:spcPts val="500"/>
              </a:spcBef>
            </a:pPr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Root cause analysis on the recurring performance and contention incidents</a:t>
            </a:r>
          </a:p>
          <a:p>
            <a:pPr algn="l">
              <a:spcBef>
                <a:spcPts val="500"/>
              </a:spcBef>
            </a:pPr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Fix what recurs: query tuning, blocking, index and partition redesign</a:t>
            </a:r>
          </a:p>
          <a:p>
            <a:pPr algn="l">
              <a:spcBef>
                <a:spcPts val="500"/>
              </a:spcBef>
            </a:pPr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Standardise runbooks so recovery is not person-dependent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410000"/>
            <a:ext cx="3636264" cy="250000"/>
          </a:xfrm>
          <a:prstGeom prst="rect">
            <a:avLst/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472000"/>
            <a:ext cx="3361944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14452F"/>
                </a:solidFill>
                <a:latin typeface="Segoe UI"/>
              </a:rPr>
              <a:t>Recovery becomes predictable and measurable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6344" y="4180000"/>
            <a:ext cx="3636264" cy="1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76344" y="4180000"/>
            <a:ext cx="3636264" cy="320000"/>
          </a:xfrm>
          <a:prstGeom prst="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13504" y="4268000"/>
            <a:ext cx="3361944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A758"/>
                </a:solidFill>
                <a:latin typeface="Segoe UI"/>
              </a:rPr>
              <a:t>02   </a:t>
            </a:r>
            <a:r>
              <a:rPr sz="1150" b="1">
                <a:solidFill>
                  <a:srgbClr val="FFFFFF"/>
                </a:solidFill>
                <a:latin typeface="Segoe UI"/>
              </a:rPr>
              <a:t>MODERNISE</a:t>
            </a:r>
            <a:r>
              <a:rPr sz="800" b="0">
                <a:solidFill>
                  <a:srgbClr val="B8D8C8"/>
                </a:solidFill>
                <a:latin typeface="Segoe UI"/>
              </a:rPr>
              <a:t>     2026 to 2027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13504" y="4555000"/>
            <a:ext cx="3361944" cy="8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Sized for what they carried when built, they now hold more components and far more data</a:t>
            </a:r>
          </a:p>
          <a:p>
            <a:pPr algn="l">
              <a:spcBef>
                <a:spcPts val="500"/>
              </a:spcBef>
            </a:pPr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Scale CPU, memory, storage and I/O to the load they actually carry today</a:t>
            </a:r>
          </a:p>
          <a:p>
            <a:pPr algn="l">
              <a:spcBef>
                <a:spcPts val="500"/>
              </a:spcBef>
            </a:pPr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Supported versions, using cloud infrastructure and current tooling where they fit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6344" y="5410000"/>
            <a:ext cx="3636264" cy="250000"/>
          </a:xfrm>
          <a:prstGeom prst="rect">
            <a:avLst/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13504" y="5472000"/>
            <a:ext cx="3361944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14452F"/>
                </a:solidFill>
                <a:latin typeface="Segoe UI"/>
              </a:rPr>
              <a:t>Performance and stability resolved, systems reliable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9768" y="4180000"/>
            <a:ext cx="3636264" cy="1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49768" y="4180000"/>
            <a:ext cx="3636264" cy="320000"/>
          </a:xfrm>
          <a:prstGeom prst="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86928" y="4268000"/>
            <a:ext cx="3361944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A758"/>
                </a:solidFill>
                <a:latin typeface="Segoe UI"/>
              </a:rPr>
              <a:t>03   </a:t>
            </a:r>
            <a:r>
              <a:rPr sz="1150" b="1">
                <a:solidFill>
                  <a:srgbClr val="FFFFFF"/>
                </a:solidFill>
                <a:latin typeface="Segoe UI"/>
              </a:rPr>
              <a:t>SCALE</a:t>
            </a:r>
            <a:r>
              <a:rPr sz="800" b="0">
                <a:solidFill>
                  <a:srgbClr val="B8D8C8"/>
                </a:solidFill>
                <a:latin typeface="Segoe UI"/>
              </a:rPr>
              <a:t>     2026 to 2027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6928" y="4555000"/>
            <a:ext cx="3361944" cy="8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Scale up the members the business depends on, with HA where criticality justifies it</a:t>
            </a:r>
          </a:p>
          <a:p>
            <a:pPr algn="l">
              <a:spcBef>
                <a:spcPts val="500"/>
              </a:spcBef>
            </a:pPr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A DR path that is documented, owned and actually tested</a:t>
            </a:r>
          </a:p>
          <a:p>
            <a:pPr algn="l">
              <a:spcBef>
                <a:spcPts val="500"/>
              </a:spcBef>
            </a:pPr>
            <a:r>
              <a:rPr sz="800" b="0">
                <a:solidFill>
                  <a:srgbClr val="00A758"/>
                </a:solidFill>
                <a:latin typeface="Segoe UI"/>
              </a:rPr>
              <a:t>▪  </a:t>
            </a:r>
            <a:r>
              <a:rPr sz="800" b="0">
                <a:solidFill>
                  <a:srgbClr val="262626"/>
                </a:solidFill>
                <a:latin typeface="Segoe UI"/>
              </a:rPr>
              <a:t>Headroom for growth across the remaining platform life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9768" y="5410000"/>
            <a:ext cx="3636264" cy="250000"/>
          </a:xfrm>
          <a:prstGeom prst="rect">
            <a:avLst/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86928" y="5472000"/>
            <a:ext cx="3361944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14452F"/>
                </a:solidFill>
                <a:latin typeface="Segoe UI"/>
              </a:rPr>
              <a:t>Capacity matched to the business, not to history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730000"/>
            <a:ext cx="11183112" cy="560000"/>
          </a:xfrm>
          <a:prstGeom prst="round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2920" y="5798000"/>
            <a:ext cx="10783112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00A758"/>
                </a:solidFill>
                <a:latin typeface="Segoe UI"/>
              </a:rPr>
              <a:t>WHAT WE ARE DOING NOW — DISCOVER AND BASELINE</a:t>
            </a:r>
          </a:p>
          <a:p>
            <a:pPr algn="l">
              <a:spcBef>
                <a:spcPts val="300"/>
              </a:spcBef>
            </a:pPr>
            <a:r>
              <a:rPr sz="950" b="0" dirty="0">
                <a:solidFill>
                  <a:srgbClr val="FFFFFF"/>
                </a:solidFill>
                <a:latin typeface="Segoe UI"/>
              </a:rPr>
              <a:t>Draw the baseline of what we run and how it recovers.     Classify every farm member as retire, redesign or sustain.     Make recovery duration mandatory at close.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80644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58368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95528" y="636422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4452F"/>
                </a:solidFill>
                <a:latin typeface="Segoe UI"/>
              </a:rPr>
              <a:t>Manulife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641908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95959"/>
                </a:solidFill>
                <a:latin typeface="Segoe UI"/>
              </a:rPr>
              <a:t>INTERNAL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38251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Pillar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459</Words>
  <Application>Microsoft Office PowerPoint</Application>
  <PresentationFormat>Widescreen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Kotte</cp:lastModifiedBy>
  <cp:revision>2</cp:revision>
  <dcterms:created xsi:type="dcterms:W3CDTF">2013-01-27T09:14:16Z</dcterms:created>
  <dcterms:modified xsi:type="dcterms:W3CDTF">2026-09-23T19:02:09Z</dcterms:modified>
  <cp:category/>
</cp:coreProperties>
</file>