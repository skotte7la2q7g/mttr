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Database_SQL_Incident_Final_One_Page_Summary.pdf (user-provided source): 120 incidents, complete priority split, all nine issue categories, and all nine recovery activity categories.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SQL_Resilience_MTTR_Discovery.pdf (user-provided source): framework purpose, MTTR components, scenario coverage, and P2/P3 analysis areas.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SQL_Resilience_MTTR_Discovery.pdf (user-provided source): four-stage roadmap and modernization alternatives.
- Database_SQL_Incident_Final_One_Page_Summary.pdf (user-provided source): existing incident patterns used as the roadmap starting point.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38912" y="23774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167D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RESILIENCE &amp; MTTR FRAMEWORK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38912" y="6492240"/>
            <a:ext cx="11292840" cy="0"/>
          </a:xfrm>
          <a:prstGeom prst="line">
            <a:avLst/>
          </a:prstGeom>
          <a:noFill/>
          <a:ln w="1016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38912" y="656539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Directional baseline based on available evidence. Refine as discovery data is completed.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424160" y="6565392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September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4D8AE-C397-CE7F-759A-C72FAD6573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94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167D9A"/>
                </a:solidFill>
              </a:rPr>
              <a:t>1 | CURRENT STATE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859536"/>
            <a:ext cx="11201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120 database-related incidents define the starting point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38074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 current-state view brings together priority, recurring SQL issue patterns and the actions used to restore service.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11292840" cy="713232"/>
          </a:xfrm>
          <a:prstGeom prst="roundRect">
            <a:avLst>
              <a:gd name="adj" fmla="val 10256"/>
            </a:avLst>
          </a:prstGeom>
          <a:solidFill>
            <a:srgbClr val="EAF4F8"/>
          </a:solidFill>
          <a:ln w="10160">
            <a:solidFill>
              <a:srgbClr val="C7DF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</a:rPr>
              <a:t>120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783080" y="20025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167D9A"/>
                </a:solidFill>
              </a:rPr>
              <a:t>UNIQUE DATABASE-RELATED INCIDENTS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9110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Priority distribution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35240" y="19110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P1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35240" y="2112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4C4C"/>
                </a:solidFill>
              </a:rPr>
              <a:t>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19110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P2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95360" y="2112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55480" y="19110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P3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555480" y="2112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7D9A"/>
                </a:solidFill>
              </a:rPr>
              <a:t>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0" y="19110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7"/>
                </a:solidFill>
              </a:rPr>
              <a:t>P4 / Other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515600" y="21122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9AAA"/>
                </a:solidFill>
              </a:rPr>
              <a:t>94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" y="2724912"/>
            <a:ext cx="5504688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181344" y="2724912"/>
            <a:ext cx="5550408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85800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All observed issue patterns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68496" y="298094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One primary category per incident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3383280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Other database-related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163824" y="3396996"/>
            <a:ext cx="1993392" cy="118872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257800" y="33787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31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671316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Performance / latency / timeout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163824" y="3685032"/>
            <a:ext cx="1800483" cy="118872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257800" y="366674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28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" y="3959352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Synchronization / consistency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163824" y="3973068"/>
            <a:ext cx="1414665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257800" y="395478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22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4247388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Connectivity / credentials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163824" y="4261104"/>
            <a:ext cx="1350362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257800" y="424281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21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4535424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SQL / query / job error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3163824" y="4549140"/>
            <a:ext cx="707333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5257800" y="453085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11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4823460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Blocking / contention / deadlock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163824" y="4837176"/>
            <a:ext cx="257212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5257800" y="48188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" y="5111496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Schema / index deployment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3163824" y="5125212"/>
            <a:ext cx="64303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5257800" y="51069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5399532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Availability / node failure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163824" y="5413248"/>
            <a:ext cx="64303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42"/>
          <p:cNvSpPr/>
          <p:nvPr/>
        </p:nvSpPr>
        <p:spPr>
          <a:xfrm>
            <a:off x="5257800" y="53949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" y="5687568"/>
            <a:ext cx="2359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Transaction log / capacity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3163824" y="5701284"/>
            <a:ext cx="64303" cy="118872"/>
          </a:xfrm>
          <a:prstGeom prst="rect">
            <a:avLst/>
          </a:prstGeom>
          <a:solidFill>
            <a:srgbClr val="72B2C1"/>
          </a:solidFill>
          <a:ln w="12700">
            <a:solidFill>
              <a:srgbClr val="72B2C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5257800" y="56829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3B5D"/>
                </a:solidFill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428232" y="2944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How service was restored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518904" y="298094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One primary recovery action per incident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428232" y="3374136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6428232" y="342442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36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22592" y="341528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Self-recovery / monitoring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354312" y="3433572"/>
            <a:ext cx="1920240" cy="91440"/>
          </a:xfrm>
          <a:prstGeom prst="rect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4" name="Shape 52"/>
          <p:cNvSpPr/>
          <p:nvPr/>
        </p:nvSpPr>
        <p:spPr>
          <a:xfrm>
            <a:off x="6428232" y="3662172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6428232" y="371246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25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022592" y="370332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Other / manual remediation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9354312" y="3721608"/>
            <a:ext cx="1333500" cy="91440"/>
          </a:xfrm>
          <a:prstGeom prst="rect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Shape 56"/>
          <p:cNvSpPr/>
          <p:nvPr/>
        </p:nvSpPr>
        <p:spPr>
          <a:xfrm>
            <a:off x="6428232" y="3950208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7"/>
          <p:cNvSpPr/>
          <p:nvPr/>
        </p:nvSpPr>
        <p:spPr>
          <a:xfrm>
            <a:off x="6428232" y="400050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24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022592" y="399135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Batch rerun / job recovery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354312" y="4009644"/>
            <a:ext cx="1280160" cy="91440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Shape 60"/>
          <p:cNvSpPr/>
          <p:nvPr/>
        </p:nvSpPr>
        <p:spPr>
          <a:xfrm>
            <a:off x="6428232" y="4238244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3" name="Text 61"/>
          <p:cNvSpPr/>
          <p:nvPr/>
        </p:nvSpPr>
        <p:spPr>
          <a:xfrm>
            <a:off x="6428232" y="428853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18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022592" y="427939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Synchronization / data correction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9354312" y="4297680"/>
            <a:ext cx="960120" cy="91440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Shape 64"/>
          <p:cNvSpPr/>
          <p:nvPr/>
        </p:nvSpPr>
        <p:spPr>
          <a:xfrm>
            <a:off x="6428232" y="4526280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6428232" y="457657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022592" y="456742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Investigation / vendor escalation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9354312" y="4585716"/>
            <a:ext cx="320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0" name="Shape 68"/>
          <p:cNvSpPr/>
          <p:nvPr/>
        </p:nvSpPr>
        <p:spPr>
          <a:xfrm>
            <a:off x="6428232" y="4814316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1" name="Text 69"/>
          <p:cNvSpPr/>
          <p:nvPr/>
        </p:nvSpPr>
        <p:spPr>
          <a:xfrm>
            <a:off x="6428232" y="48646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022592" y="4855464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Restore / rollback / backout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9354312" y="4873752"/>
            <a:ext cx="2667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4" name="Shape 72"/>
          <p:cNvSpPr/>
          <p:nvPr/>
        </p:nvSpPr>
        <p:spPr>
          <a:xfrm>
            <a:off x="6428232" y="5102352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5" name="Text 73"/>
          <p:cNvSpPr/>
          <p:nvPr/>
        </p:nvSpPr>
        <p:spPr>
          <a:xfrm>
            <a:off x="6428232" y="515264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022592" y="514350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Restart / recycle / failover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9354312" y="5161788"/>
            <a:ext cx="160020" cy="91440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Shape 76"/>
          <p:cNvSpPr/>
          <p:nvPr/>
        </p:nvSpPr>
        <p:spPr>
          <a:xfrm>
            <a:off x="6428232" y="5390388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9" name="Text 77"/>
          <p:cNvSpPr/>
          <p:nvPr/>
        </p:nvSpPr>
        <p:spPr>
          <a:xfrm>
            <a:off x="6428232" y="544068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022592" y="543153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Capacity / storage mitigation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9354312" y="5449824"/>
            <a:ext cx="106680" cy="91440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2" name="Shape 80"/>
          <p:cNvSpPr/>
          <p:nvPr/>
        </p:nvSpPr>
        <p:spPr>
          <a:xfrm>
            <a:off x="6428232" y="5678424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Text 81"/>
          <p:cNvSpPr/>
          <p:nvPr/>
        </p:nvSpPr>
        <p:spPr>
          <a:xfrm>
            <a:off x="6428232" y="572871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022592" y="571957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Credential / connection fix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9354312" y="5737860"/>
            <a:ext cx="53340" cy="91440"/>
          </a:xfrm>
          <a:prstGeom prst="rect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6" name="Shape 84"/>
          <p:cNvSpPr/>
          <p:nvPr/>
        </p:nvSpPr>
        <p:spPr>
          <a:xfrm>
            <a:off x="6428232" y="5998464"/>
            <a:ext cx="4956048" cy="164592"/>
          </a:xfrm>
          <a:prstGeom prst="roundRect">
            <a:avLst>
              <a:gd name="adj" fmla="val 33333"/>
            </a:avLst>
          </a:prstGeom>
          <a:solidFill>
            <a:srgbClr val="FFF5DD"/>
          </a:solidFill>
          <a:ln w="12700">
            <a:solidFill>
              <a:srgbClr val="F5D58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7" name="Text 85"/>
          <p:cNvSpPr/>
          <p:nvPr/>
        </p:nvSpPr>
        <p:spPr>
          <a:xfrm>
            <a:off x="6556248" y="6030468"/>
            <a:ext cx="4700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5A00"/>
                </a:solidFill>
              </a:rPr>
              <a:t>The baseline must distinguish major recovery from routine operational remediation.</a:t>
            </a:r>
            <a:endParaRPr lang="en-US" sz="75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94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167D9A"/>
                </a:solidFill>
              </a:rPr>
              <a:t>2 | SQL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859536"/>
            <a:ext cx="11201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A common method turns incident evidence into an indicative MTTR baseline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38074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The framework links application criticality, database characteristics, dependencies and recovery steps, while keeping assumptions and missing evidence visible.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8912" y="1828800"/>
            <a:ext cx="11292840" cy="859536"/>
          </a:xfrm>
          <a:prstGeom prst="roundRect">
            <a:avLst>
              <a:gd name="adj" fmla="val 8511"/>
            </a:avLst>
          </a:prstGeom>
          <a:solidFill>
            <a:srgbClr val="EAF4F8"/>
          </a:solidFill>
          <a:ln w="10160">
            <a:solidFill>
              <a:srgbClr val="C7DF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76656" y="19659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167D9A"/>
                </a:solidFill>
              </a:rPr>
              <a:t>INDICATIVE MTTR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48840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5D"/>
                </a:solidFill>
              </a:rPr>
              <a:t>Detect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2185416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4748B"/>
                </a:solidFill>
              </a:rPr>
              <a:t>Identify impact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584448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A7C5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05072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5D"/>
                </a:solidFill>
              </a:rPr>
              <a:t>Decide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5072" y="2185416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4748B"/>
                </a:solidFill>
              </a:rPr>
              <a:t>Select path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440680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A7C5"/>
                </a:solidFill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61304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5D"/>
                </a:solidFill>
              </a:rPr>
              <a:t>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61304" y="2185416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4748B"/>
                </a:solidFill>
              </a:rPr>
              <a:t>Recover platform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7296912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A7C5"/>
                </a:solidFill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17536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5D"/>
                </a:solidFill>
              </a:rPr>
              <a:t>Restore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17536" y="2185416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4748B"/>
                </a:solidFill>
              </a:rPr>
              <a:t>Recover data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9153144" y="19933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A7C5"/>
                </a:solidFill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73768" y="192938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B5D"/>
                </a:solidFill>
              </a:rPr>
              <a:t>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73768" y="2185416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4748B"/>
                </a:solidFill>
              </a:rPr>
              <a:t>Confirm service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38912" y="2907792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621792" y="3099816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21792" y="31501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P1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88720" y="3090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</a:rPr>
              <a:t>Restore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" y="34381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Database, SQL instance, connectivity or VM failure.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73152" cy="73152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86384" y="38313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Size and restore throughput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3152" cy="73152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786384" y="40599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Application and platform dependencies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73152" cy="73152"/>
          </a:xfrm>
          <a:prstGeom prst="ellipse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86384" y="42885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HA/DR path, validation and handover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251960" y="2907792"/>
            <a:ext cx="34290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4434840" y="3099816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434840" y="31501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P2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01768" y="30906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</a:rPr>
              <a:t>Stabilize degradation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34840" y="34381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Blocking, timeouts and resource contention.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53128" y="38862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4599432" y="38313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CPU, memory and I/O pressure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453128" y="41148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599432" y="40599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Job overlap and parallel activity limits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453128" y="43434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4599432" y="4288536"/>
            <a:ext cx="2862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Locking, blocking, waits and backup windows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065008" y="2907792"/>
            <a:ext cx="366674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8247888" y="3099816"/>
            <a:ext cx="457200" cy="256032"/>
          </a:xfrm>
          <a:prstGeom prst="roundRect">
            <a:avLst>
              <a:gd name="adj" fmla="val 42857"/>
            </a:avLst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8247888" y="31501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P3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814816" y="30906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</a:rPr>
              <a:t>Resolve localized impact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47888" y="3438144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Queries, jobs, rollback, capacity or disk issues.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66176" y="3886200"/>
            <a:ext cx="73152" cy="73152"/>
          </a:xfrm>
          <a:prstGeom prst="ellipse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8412480" y="3831336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Execution context and query efficiency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8266176" y="4114800"/>
            <a:ext cx="73152" cy="73152"/>
          </a:xfrm>
          <a:prstGeom prst="ellipse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8412480" y="4059936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Runaway activity and governed termination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8266176" y="4343400"/>
            <a:ext cx="73152" cy="73152"/>
          </a:xfrm>
          <a:prstGeom prst="ellipse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8412480" y="4288536"/>
            <a:ext cx="30998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1F2937"/>
                </a:solidFill>
              </a:rPr>
              <a:t>Disk, log, rollback and capacity signals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438912" y="50474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B5D"/>
                </a:solidFill>
              </a:rPr>
              <a:t>Baseline variables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38912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512064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</a:rPr>
              <a:t>Application criticality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2322576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2395728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</a:rPr>
              <a:t>Database size + growth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4206240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4279392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</a:rPr>
              <a:t>Instance topology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6089904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6163056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</a:rPr>
              <a:t>Dependencies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7973568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8046720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F2937"/>
                </a:solidFill>
              </a:rPr>
              <a:t>HA / DR design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9857232" y="5394960"/>
            <a:ext cx="1682496" cy="530352"/>
          </a:xfrm>
          <a:prstGeom prst="roundRect">
            <a:avLst>
              <a:gd name="adj" fmla="val 13793"/>
            </a:avLst>
          </a:prstGeom>
          <a:solidFill>
            <a:srgbClr val="EAF7F2"/>
          </a:solidFill>
          <a:ln w="10160">
            <a:solidFill>
              <a:srgbClr val="A9D7C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6" name="Text 64"/>
          <p:cNvSpPr/>
          <p:nvPr/>
        </p:nvSpPr>
        <p:spPr>
          <a:xfrm>
            <a:off x="9930384" y="5541264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2E8B72"/>
                </a:solidFill>
              </a:rPr>
              <a:t>Observed recovery data</a:t>
            </a:r>
            <a:endParaRPr lang="en-US" sz="81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594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167D9A"/>
                </a:solidFill>
              </a:rPr>
              <a:t>3 | MODERNIZATION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38912" y="859536"/>
            <a:ext cx="11201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B5D"/>
                </a:solidFill>
              </a:rPr>
              <a:t>A promising path from baseline to SQL infrastructure modernization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38074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Start with the existing estate, quantify recovery exposure, fix recurring operational causes and modernize only where the evidence supports the investment.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38912" y="1874520"/>
            <a:ext cx="2615184" cy="2871216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603504" y="2057400"/>
            <a:ext cx="438912" cy="438912"/>
          </a:xfrm>
          <a:prstGeom prst="ellipse">
            <a:avLst/>
          </a:prstGeom>
          <a:solidFill>
            <a:srgbClr val="167D9A"/>
          </a:solidFill>
          <a:ln w="12700">
            <a:solidFill>
              <a:srgbClr val="167D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03504" y="21854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52144" y="2075688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167D9A"/>
                </a:solidFill>
              </a:rPr>
              <a:t>DISCOVER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2651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Create one trusted view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" y="3209544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Map applications, databases, sizes, versions, dependencies, ownership, HA/DR, runbooks and incident evidence.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03504" y="4160520"/>
            <a:ext cx="2267712" cy="1"/>
          </a:xfrm>
          <a:prstGeom prst="line">
            <a:avLst/>
          </a:prstGeom>
          <a:noFill/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03504" y="42793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67D9A"/>
                </a:solidFill>
              </a:rPr>
              <a:t>OUTPUT  |  Complete data set + known gaps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072384" y="2990088"/>
            <a:ext cx="192024" cy="4754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282696" y="1874520"/>
            <a:ext cx="2615184" cy="2871216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447288" y="2057400"/>
            <a:ext cx="438912" cy="438912"/>
          </a:xfrm>
          <a:prstGeom prst="ellipse">
            <a:avLst/>
          </a:prstGeom>
          <a:solidFill>
            <a:srgbClr val="32A7C5"/>
          </a:solidFill>
          <a:ln w="12700">
            <a:solidFill>
              <a:srgbClr val="32A7C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447288" y="21854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95928" y="2075688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32A7C5"/>
                </a:solidFill>
              </a:rPr>
              <a:t>BASELINE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47288" y="2651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Calculate indicative MTTR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3209544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Measure Detect, Decide, Build, Restore and Validate by incident type, platform characteristics and dependency chain.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47288" y="4160520"/>
            <a:ext cx="2267712" cy="1"/>
          </a:xfrm>
          <a:prstGeom prst="line">
            <a:avLst/>
          </a:prstGeom>
          <a:noFill/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447288" y="42793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32A7C5"/>
                </a:solidFill>
              </a:rPr>
              <a:t>OUTPUT  |  Recovery exposure by application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916168" y="2990088"/>
            <a:ext cx="192024" cy="4754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6126480" y="1874520"/>
            <a:ext cx="2615184" cy="2871216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291072" y="20574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291072" y="21854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39712" y="2075688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F59E0B"/>
                </a:solidFill>
              </a:rPr>
              <a:t>IMPROVE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2651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Reduce recurring causes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91072" y="3209544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Tune queries, address locking and blocking, govern parallel workloads, improve monitoring, automate recovery and strengthen operational controls.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291072" y="4160520"/>
            <a:ext cx="2267712" cy="1"/>
          </a:xfrm>
          <a:prstGeom prst="line">
            <a:avLst/>
          </a:prstGeom>
          <a:noFill/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6291072" y="42793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F59E0B"/>
                </a:solidFill>
              </a:rPr>
              <a:t>OUTPUT  |  Prioritized near-term actions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759952" y="2990088"/>
            <a:ext cx="192024" cy="47548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8970264" y="1874520"/>
            <a:ext cx="2615184" cy="2871216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9134856" y="2057400"/>
            <a:ext cx="438912" cy="438912"/>
          </a:xfrm>
          <a:prstGeom prst="ellipse">
            <a:avLst/>
          </a:prstGeom>
          <a:solidFill>
            <a:srgbClr val="2E8B72"/>
          </a:solidFill>
          <a:ln w="12700">
            <a:solidFill>
              <a:srgbClr val="2E8B7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9134856" y="218541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683496" y="2075688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2E8B72"/>
                </a:solidFill>
              </a:rPr>
              <a:t>MODERNIZE SQL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34856" y="2651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B5D"/>
                </a:solidFill>
              </a:rPr>
              <a:t>Align platform to workload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34856" y="3209544"/>
            <a:ext cx="22677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Evaluate upgrades, workload isolation, dedicated SQL hosting, SQL VM or managed cloud services based on fit, risk and value.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9134856" y="4160520"/>
            <a:ext cx="2267712" cy="1"/>
          </a:xfrm>
          <a:prstGeom prst="line">
            <a:avLst/>
          </a:prstGeom>
          <a:noFill/>
          <a:ln w="10160">
            <a:solidFill>
              <a:srgbClr val="DCE4E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9134856" y="42793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2E8B72"/>
                </a:solidFill>
              </a:rPr>
              <a:t>OUTPUT  |  Investment roadmap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438912" y="5010912"/>
            <a:ext cx="11292840" cy="1024128"/>
          </a:xfrm>
          <a:prstGeom prst="roundRect">
            <a:avLst>
              <a:gd name="adj" fmla="val 7143"/>
            </a:avLst>
          </a:prstGeom>
          <a:solidFill>
            <a:srgbClr val="123B5D"/>
          </a:solidFill>
          <a:ln w="1016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658368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DD3E8"/>
                </a:solidFill>
              </a:rPr>
              <a:t>Modernization decision principle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24912" y="5166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When multiple applications compete on a shared SQL instance, compare tuning and workload governance first, then assess isolation or dedicated cloud capacity where recurring contention, recovery exposure and business criticality justify it.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8368" y="573328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C7D8"/>
                </a:solidFill>
              </a:rPr>
              <a:t>Success measures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91640" y="5705856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CEAF0"/>
                </a:solidFill>
              </a:rPr>
              <a:t>Coverage of critical applications  •  baseline completeness  •  repeat incident reduction  •  MTTR trend  •  modernization decisions supported by evidence</a:t>
            </a:r>
            <a:endParaRPr lang="en-US" sz="82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723</Words>
  <Application>Microsoft Office PowerPoint</Application>
  <PresentationFormat>Widescreen</PresentationFormat>
  <Paragraphs>134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Resilience &amp; MTTR Framework</dc:title>
  <dc:subject>SQL resilience, incident baseline and MTTR framework</dc:subject>
  <dc:creator>Shyam Kotte</dc:creator>
  <cp:lastModifiedBy>Shyam Kotte</cp:lastModifiedBy>
  <cp:revision>2</cp:revision>
  <dcterms:created xsi:type="dcterms:W3CDTF">2026-09-17T20:55:06Z</dcterms:created>
  <dcterms:modified xsi:type="dcterms:W3CDTF">2026-09-17T22:56:44Z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2026-09-17T22:55:41Z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d9e9c96c-bda2-4ef4-a877-c9f6243a1401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